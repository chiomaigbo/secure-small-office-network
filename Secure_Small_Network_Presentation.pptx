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9" r:id="rId5"/>
    <p:sldId id="273" r:id="rId6"/>
    <p:sldId id="272" r:id="rId7"/>
    <p:sldId id="271" r:id="rId8"/>
    <p:sldId id="270" r:id="rId9"/>
    <p:sldId id="268" r:id="rId10"/>
    <p:sldId id="265" r:id="rId11"/>
    <p:sldId id="266" r:id="rId12"/>
    <p:sldId id="267" r:id="rId13"/>
    <p:sldId id="264" r:id="rId14"/>
    <p:sldId id="260" r:id="rId15"/>
    <p:sldId id="261" r:id="rId16"/>
    <p:sldId id="262" r:id="rId17"/>
    <p:sldId id="263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Bb122vIqdX3IgMWKn3EVI0zoJ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9DFAD8B9-147F-7715-0A66-0FD59DFE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149C754C-7830-3EAF-9EE3-045708145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EEEDD8FB-5A3E-043F-A2DE-8BF686E70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2697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805F241F-1D67-68CD-EC92-3437DCE5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732ADE31-26F6-B84D-B2DE-81D4B7D685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55B205AD-E125-A524-EF66-75F5C0BC8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9914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5CD5065B-BE5D-58C2-0A0B-EF0F71E8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30EAA1A9-E5B2-69D5-1040-397749E2B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2D6313D7-4DD7-F1E3-469E-5FAC1E2C8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2870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01614A91-F062-5970-3147-5A6977E7A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EE56A962-9094-A4BA-B889-F4FAE311C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DDB3E3AA-CC48-D765-CC0B-C2163BC81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9564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F0687370-BBD0-CC50-968B-7233AA00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9EAAC694-FB4B-8C8A-E06A-3516D8E7B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C95FA56C-27A1-24F6-5F99-33454E675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4132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0270571C-339F-14EE-78A5-293BEBC17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071FC598-BDB8-D253-C1E5-87C068498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BCB3EE45-1B97-B55D-9A5D-01C4C012E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2895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9FA079EB-F0FF-C223-48BC-99B8D1D0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ADB7F6B9-F4FD-6EB1-9356-23D552A6A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0F74BF9C-BCC2-4823-86E8-039386665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2294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96B40A6D-5B2C-CC75-3E73-6ADB4F75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157DE2DE-A1EC-F51E-B6AE-F0915F230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9D6EB08F-6B45-ED6E-E828-B786444FC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2589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41071C7-5373-1037-6741-4C5BB37A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9BF13A40-BE09-AAEE-AE81-BBBC4B57F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4F6236FE-C58C-1FB0-4E12-9F2389D3C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9142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D3BA3E40-3C7B-1F54-C3A6-9491D2F4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C56CB44B-23F1-54FD-D5EB-A2A7AB17A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E2F25DC0-4F17-2295-764C-610752B4C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9668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tm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tm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tm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tm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tm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tm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tm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929351" y="1078945"/>
            <a:ext cx="9004795" cy="4436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dk1"/>
                </a:solidFill>
              </a:rPr>
              <a:t>TechCrush</a:t>
            </a:r>
            <a:r>
              <a:rPr lang="en-US" sz="2800" b="1" dirty="0">
                <a:solidFill>
                  <a:schemeClr val="dk1"/>
                </a:solidFill>
              </a:rPr>
              <a:t> Capstone Project </a:t>
            </a:r>
          </a:p>
          <a:p>
            <a:pPr algn="ctr"/>
            <a:r>
              <a:rPr lang="en-US" sz="2800" b="1" dirty="0"/>
              <a:t>Title:</a:t>
            </a:r>
            <a:r>
              <a:rPr lang="en-US" sz="2800" dirty="0"/>
              <a:t> Building a Secure Small Network</a:t>
            </a:r>
          </a:p>
          <a:p>
            <a:pPr algn="ctr"/>
            <a:r>
              <a:rPr lang="en-US" sz="2800" dirty="0"/>
              <a:t>Cybersecurity Capstone Project | Cisco Packet Tracer, Nmap/</a:t>
            </a:r>
            <a:r>
              <a:rPr lang="en-US" sz="2800" dirty="0" err="1"/>
              <a:t>Zenmap</a:t>
            </a:r>
            <a:r>
              <a:rPr lang="en-US" sz="2800" dirty="0"/>
              <a:t>, and Wireshark</a:t>
            </a:r>
          </a:p>
          <a:p>
            <a:pPr algn="ctr"/>
            <a:r>
              <a:rPr lang="en-US" sz="2800" b="1" dirty="0"/>
              <a:t>Prepared by: Igbo Chioma C.</a:t>
            </a:r>
            <a:endParaRPr lang="en-US" sz="2800" dirty="0"/>
          </a:p>
          <a:p>
            <a:pPr algn="ctr"/>
            <a:r>
              <a:rPr lang="en-US" sz="2800" b="1" dirty="0"/>
              <a:t>Course:</a:t>
            </a:r>
            <a:r>
              <a:rPr lang="en-US" sz="2800" dirty="0"/>
              <a:t> Cybersecurity Capstone Project</a:t>
            </a:r>
          </a:p>
          <a:p>
            <a:pPr algn="ctr"/>
            <a:r>
              <a:rPr lang="en-US" sz="2800" b="1" dirty="0"/>
              <a:t>Date:</a:t>
            </a:r>
            <a:r>
              <a:rPr lang="en-US" sz="2800" dirty="0"/>
              <a:t> May 2026</a:t>
            </a: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         </a:t>
            </a: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61480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0" y="1827336"/>
            <a:ext cx="12093388" cy="187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rPr lang="en-US" sz="2400" dirty="0"/>
              <a:t>Design a basic small office network layout.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rPr lang="en-US" sz="2400" dirty="0"/>
              <a:t>Apply practical security controls to protect the network.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rPr lang="en-US" sz="2400" dirty="0"/>
              <a:t>Test the network using scanning and traffic analysis tools.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rPr lang="en-US" sz="2400" dirty="0"/>
              <a:t>Explain how the design helps defend against common threats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123005-78A7-09D0-51FE-6D8ABB133F53}"/>
              </a:ext>
            </a:extLst>
          </p:cNvPr>
          <p:cNvSpPr txBox="1"/>
          <p:nvPr/>
        </p:nvSpPr>
        <p:spPr>
          <a:xfrm>
            <a:off x="109330" y="832307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dirty="0"/>
              <a:t>Project Objective and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E7F04-F733-7CFB-D338-B033B962A140}"/>
              </a:ext>
            </a:extLst>
          </p:cNvPr>
          <p:cNvSpPr txBox="1"/>
          <p:nvPr/>
        </p:nvSpPr>
        <p:spPr>
          <a:xfrm>
            <a:off x="246490" y="1304116"/>
            <a:ext cx="3125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3255"/>
                </a:solidFill>
              </a:defRPr>
            </a:pPr>
            <a:r>
              <a:rPr sz="2800" dirty="0"/>
              <a:t>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E415C-F3E0-0F88-8395-F97DFD2B6E48}"/>
              </a:ext>
            </a:extLst>
          </p:cNvPr>
          <p:cNvSpPr txBox="1"/>
          <p:nvPr/>
        </p:nvSpPr>
        <p:spPr>
          <a:xfrm>
            <a:off x="109330" y="3856752"/>
            <a:ext cx="1184645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rPr lang="en-US" sz="2400" dirty="0"/>
              <a:t>Network diagram created in Cisco Packet Tracer.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rPr lang="en-US" sz="2400" dirty="0"/>
              <a:t>Basic security controls: passwords, segmentation, firewall rules, port scanning/hardening.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rPr lang="en-US" sz="2400" dirty="0"/>
              <a:t>Threat simulation: port scanning attempt and response.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rPr lang="en-US" sz="2400" dirty="0"/>
              <a:t>Screenshots and logs used as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125730" y="1483656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221972" y="793984"/>
            <a:ext cx="11748053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Tools Used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734D20-ECC2-474D-AEB8-A6260AC9A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621193"/>
              </p:ext>
            </p:extLst>
          </p:nvPr>
        </p:nvGraphicFramePr>
        <p:xfrm>
          <a:off x="58914" y="1270000"/>
          <a:ext cx="11508246" cy="479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4123">
                  <a:extLst>
                    <a:ext uri="{9D8B030D-6E8A-4147-A177-3AD203B41FA5}">
                      <a16:colId xmlns:a16="http://schemas.microsoft.com/office/drawing/2014/main" val="635904296"/>
                    </a:ext>
                  </a:extLst>
                </a:gridCol>
                <a:gridCol w="5754123">
                  <a:extLst>
                    <a:ext uri="{9D8B030D-6E8A-4147-A177-3AD203B41FA5}">
                      <a16:colId xmlns:a16="http://schemas.microsoft.com/office/drawing/2014/main" val="2850518860"/>
                    </a:ext>
                  </a:extLst>
                </a:gridCol>
              </a:tblGrid>
              <a:tr h="639932"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56384"/>
                  </a:ext>
                </a:extLst>
              </a:tr>
              <a:tr h="778584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41414"/>
                          </a:solidFill>
                        </a:rPr>
                        <a:t>Cisco Packet Tracer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Network topology design and simulation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422108"/>
                  </a:ext>
                </a:extLst>
              </a:tr>
              <a:tr h="1039748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41414"/>
                          </a:solidFill>
                        </a:rPr>
                        <a:t>Router/ASA/Switch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Network control points and security boundary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377044"/>
                  </a:ext>
                </a:extLst>
              </a:tr>
              <a:tr h="778584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Nmap/Zenmap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Port scanning and service discovery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810518"/>
                  </a:ext>
                </a:extLst>
              </a:tr>
              <a:tr h="778584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Wireshark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Packet capture and traffic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463601"/>
                  </a:ext>
                </a:extLst>
              </a:tr>
              <a:tr h="778584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Packet Tracer Command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41414"/>
                          </a:solidFill>
                        </a:rPr>
                        <a:t>Ping/connectivity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0178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671F576D-8824-1B17-B2DF-B166A058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C334BC64-C7C0-C8D4-5D82-2271BF0827B7}"/>
              </a:ext>
            </a:extLst>
          </p:cNvPr>
          <p:cNvSpPr/>
          <p:nvPr/>
        </p:nvSpPr>
        <p:spPr>
          <a:xfrm>
            <a:off x="0" y="-46110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DCE16918-E3D4-D151-1AA8-063268E41D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35D900F5-A025-0C28-D572-52142C49EF47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CC602C89-D7B7-51A1-D127-3EF9BD13A6B4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4553614F-0268-70CF-F71D-F29AF65FC621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207784" y="1427915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922C1958-E6D6-1C4E-EC7B-012BDAFC52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86D5EC4E-A443-B872-E922-6C71E99CF58B}"/>
              </a:ext>
            </a:extLst>
          </p:cNvPr>
          <p:cNvSpPr txBox="1"/>
          <p:nvPr/>
        </p:nvSpPr>
        <p:spPr>
          <a:xfrm>
            <a:off x="0" y="871516"/>
            <a:ext cx="11748053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Network Topology Overview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9D246-9C39-F138-4383-15270F74FD39}"/>
              </a:ext>
            </a:extLst>
          </p:cNvPr>
          <p:cNvSpPr txBox="1"/>
          <p:nvPr/>
        </p:nvSpPr>
        <p:spPr>
          <a:xfrm>
            <a:off x="-39756" y="1321573"/>
            <a:ext cx="1157859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Internet represented by Cloud-PT.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Office Router connects the office to the internet side.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ASA Firewall provides a security boundary.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Core Switch connects internal devices.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Office PCs, server, and guest laptop are grouped into zones</a:t>
            </a:r>
            <a:r>
              <a:rPr lang="en-US" sz="20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26FC6-0783-3DBD-5EE1-E4B33E684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6" y="3630750"/>
            <a:ext cx="12129134" cy="39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56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9173D67A-E741-71FD-2739-30A8F70D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4E77B109-0A14-67C1-D535-F891B660A848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179AB2D2-2393-0F5F-0F56-0FAA249DA0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1EE7BF6B-E4B2-04C5-7497-2D9457C92F27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703921A7-CFF1-421C-78E0-42981278DB57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60A3CE21-3420-86AD-A535-E9DB8806B22D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14BF410D-00FC-BE1C-2B3A-49FC3B3C61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F1D6FD17-4029-0445-1858-788E912965E6}"/>
              </a:ext>
            </a:extLst>
          </p:cNvPr>
          <p:cNvSpPr txBox="1"/>
          <p:nvPr/>
        </p:nvSpPr>
        <p:spPr>
          <a:xfrm>
            <a:off x="0" y="755373"/>
            <a:ext cx="11748053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IP Addressing and Network Zones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FC9112-A7A9-20B1-BAAD-A18A0E98C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358168"/>
              </p:ext>
            </p:extLst>
          </p:nvPr>
        </p:nvGraphicFramePr>
        <p:xfrm>
          <a:off x="80010" y="1383029"/>
          <a:ext cx="11748055" cy="3852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611">
                  <a:extLst>
                    <a:ext uri="{9D8B030D-6E8A-4147-A177-3AD203B41FA5}">
                      <a16:colId xmlns:a16="http://schemas.microsoft.com/office/drawing/2014/main" val="3923733887"/>
                    </a:ext>
                  </a:extLst>
                </a:gridCol>
                <a:gridCol w="2349611">
                  <a:extLst>
                    <a:ext uri="{9D8B030D-6E8A-4147-A177-3AD203B41FA5}">
                      <a16:colId xmlns:a16="http://schemas.microsoft.com/office/drawing/2014/main" val="3540314328"/>
                    </a:ext>
                  </a:extLst>
                </a:gridCol>
                <a:gridCol w="2349611">
                  <a:extLst>
                    <a:ext uri="{9D8B030D-6E8A-4147-A177-3AD203B41FA5}">
                      <a16:colId xmlns:a16="http://schemas.microsoft.com/office/drawing/2014/main" val="36734764"/>
                    </a:ext>
                  </a:extLst>
                </a:gridCol>
                <a:gridCol w="2349611">
                  <a:extLst>
                    <a:ext uri="{9D8B030D-6E8A-4147-A177-3AD203B41FA5}">
                      <a16:colId xmlns:a16="http://schemas.microsoft.com/office/drawing/2014/main" val="1196393597"/>
                    </a:ext>
                  </a:extLst>
                </a:gridCol>
                <a:gridCol w="2349611">
                  <a:extLst>
                    <a:ext uri="{9D8B030D-6E8A-4147-A177-3AD203B41FA5}">
                      <a16:colId xmlns:a16="http://schemas.microsoft.com/office/drawing/2014/main" val="4107987426"/>
                    </a:ext>
                  </a:extLst>
                </a:gridCol>
              </a:tblGrid>
              <a:tr h="486207"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473300"/>
                  </a:ext>
                </a:extLst>
              </a:tr>
              <a:tr h="766834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Office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Office 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192.168.10.10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Staff workstation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7266"/>
                  </a:ext>
                </a:extLst>
              </a:tr>
              <a:tr h="766834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Office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Office 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192.168.10.11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41414"/>
                          </a:solidFill>
                        </a:rPr>
                        <a:t>Staff workstation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813216"/>
                  </a:ext>
                </a:extLst>
              </a:tr>
              <a:tr h="860213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41414"/>
                          </a:solidFill>
                        </a:rPr>
                        <a:t>File/Web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192.168.20.10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Business services/data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747895"/>
                  </a:ext>
                </a:extLst>
              </a:tr>
              <a:tr h="860213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Guest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Guest 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1414"/>
                          </a:solidFill>
                        </a:rPr>
                        <a:t>192.168.30.10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41414"/>
                          </a:solidFill>
                        </a:rPr>
                        <a:t>Visitor/guest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5321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BA4D264-98BF-B132-C861-6CD12DEEFE5B}"/>
              </a:ext>
            </a:extLst>
          </p:cNvPr>
          <p:cNvSpPr txBox="1"/>
          <p:nvPr/>
        </p:nvSpPr>
        <p:spPr>
          <a:xfrm>
            <a:off x="171450" y="5744886"/>
            <a:ext cx="11610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Different subnets support zone separation and reduce unrestricted access between device groups</a:t>
            </a:r>
          </a:p>
        </p:txBody>
      </p:sp>
    </p:spTree>
    <p:extLst>
      <p:ext uri="{BB962C8B-B14F-4D97-AF65-F5344CB8AC3E}">
        <p14:creationId xmlns:p14="http://schemas.microsoft.com/office/powerpoint/2010/main" val="395022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69C72697-89D3-9FAB-9F7A-1948FA166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2D630D01-92A5-F732-6FB6-46FEC8504E43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FBA36BE0-B5BB-8786-AF5B-558440F669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73486DEC-B18E-CD2E-0B99-25E9D3CF680B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F8E18064-E7A8-57F8-2C97-414D3C27B9FA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FB226781-010F-2C69-3C4C-22E4E6B1941D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C3BD147D-B74A-5925-E4A6-6F70587E2C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B67C1CB5-1FC6-EAB4-5EB1-78A1F3B92F85}"/>
              </a:ext>
            </a:extLst>
          </p:cNvPr>
          <p:cNvSpPr txBox="1"/>
          <p:nvPr/>
        </p:nvSpPr>
        <p:spPr>
          <a:xfrm>
            <a:off x="-39756" y="765005"/>
            <a:ext cx="11748053" cy="366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Security Control 1: Password and Access Control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800" dirty="0"/>
              <a:t>Configured an enable secret on the router.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800" dirty="0"/>
              <a:t>Configured console password protection.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800" dirty="0"/>
              <a:t>Configured VTY/remote access password protection.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800" dirty="0"/>
              <a:t>Enabled password encryption using service password-encryption.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800" dirty="0"/>
              <a:t>Saved the configuration with write.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24B4C6-1B9D-50C7-D5E4-90BC26E8C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" y="3659757"/>
            <a:ext cx="11748052" cy="31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9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FC5807A0-0757-8A79-AA80-FCB9536C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D50D427A-F238-B2A2-AA83-DC9138DF065C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4CFE2104-F5E6-9FFC-6285-7391775DBD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4E6F8D05-2751-F0FB-59D7-93911FF4858F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A8DE82E1-7C4F-5A64-F1EF-B19D67E2DE4E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61306A84-22E5-44E1-0DC1-3AC670F2B5F9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177414" y="1319254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E3D36863-E503-D3BB-2225-01D59D3F63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B9312265-696C-6207-2590-A6EC7A4C3DD1}"/>
              </a:ext>
            </a:extLst>
          </p:cNvPr>
          <p:cNvSpPr txBox="1"/>
          <p:nvPr/>
        </p:nvSpPr>
        <p:spPr>
          <a:xfrm>
            <a:off x="-38775" y="654193"/>
            <a:ext cx="11748053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Security Control 2: Network Segmentation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63B8C-F890-4C46-6CBA-4F90C33A5CE1}"/>
              </a:ext>
            </a:extLst>
          </p:cNvPr>
          <p:cNvSpPr txBox="1"/>
          <p:nvPr/>
        </p:nvSpPr>
        <p:spPr>
          <a:xfrm>
            <a:off x="-39756" y="1046900"/>
            <a:ext cx="117480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The network is divided into Office, Server, and Guest zones.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Each zone has a different IP subnet.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Same-zone communication is allowed.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Cross-zone communication is restricted unless routing or firewall rules allow it.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This limits unauthorized access and reduces lateral movement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5ABB58-D548-9352-E682-0F0335E25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12014586" cy="401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22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88229279-8449-2A10-DBC0-DA449306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182813C3-06CA-BD2F-4AD8-AF592F26968A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E5359F21-7D27-57A6-28EB-6615D1D13E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280AE0B4-6FFE-AB93-063C-CF68CBB472F7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FC0EE688-C29E-8F1D-0727-C14B57C1C996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E24B9C37-33FC-8EB5-A3E4-C5AD2508EBC6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-146546" y="1316019"/>
            <a:ext cx="10541991" cy="267305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A144ABC8-EA71-14D1-5CDE-0D88C982D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31092AD7-6525-A006-9787-3115EF52D22E}"/>
              </a:ext>
            </a:extLst>
          </p:cNvPr>
          <p:cNvSpPr txBox="1"/>
          <p:nvPr/>
        </p:nvSpPr>
        <p:spPr>
          <a:xfrm>
            <a:off x="0" y="755373"/>
            <a:ext cx="11748053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Segmentation Test: Ping Results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95831B-CDDA-F95B-FB28-74B468977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33512"/>
              </p:ext>
            </p:extLst>
          </p:nvPr>
        </p:nvGraphicFramePr>
        <p:xfrm>
          <a:off x="91440" y="1316019"/>
          <a:ext cx="10972800" cy="2663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67815161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6691884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64644730"/>
                    </a:ext>
                  </a:extLst>
                </a:gridCol>
              </a:tblGrid>
              <a:tr h="371502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222844"/>
                  </a:ext>
                </a:extLst>
              </a:tr>
              <a:tr h="37150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414"/>
                          </a:solidFill>
                        </a:rPr>
                        <a:t>PC1 → PC2 (192.168.10.11)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41414"/>
                          </a:solidFill>
                        </a:rPr>
                        <a:t>Successful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414"/>
                          </a:solidFill>
                        </a:rPr>
                        <a:t>Same Office Zone communication 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989520"/>
                  </a:ext>
                </a:extLst>
              </a:tr>
              <a:tr h="42748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414"/>
                          </a:solidFill>
                        </a:rPr>
                        <a:t>PC1 → Server (192.168.20.10)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414"/>
                          </a:solidFill>
                        </a:rPr>
                        <a:t>Timed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414"/>
                          </a:solidFill>
                        </a:rPr>
                        <a:t>Server Zone is isolated without routing/rules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550439"/>
                  </a:ext>
                </a:extLst>
              </a:tr>
              <a:tr h="42748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414"/>
                          </a:solidFill>
                        </a:rPr>
                        <a:t>PC1 → Guest (192.168.30.10)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414"/>
                          </a:solidFill>
                        </a:rPr>
                        <a:t>Timed out/blocked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41414"/>
                          </a:solidFill>
                        </a:rPr>
                        <a:t>Guest Zone is separated from Office Zone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658413"/>
                  </a:ext>
                </a:extLst>
              </a:tr>
              <a:tr h="3715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3357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5D97116-DABB-02C2-EE2B-8A8314E42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" y="3429000"/>
            <a:ext cx="12054840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5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853837C3-856B-5F8C-ACC6-CE04A0A4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8FB53EB9-C116-3C8C-ECA5-37312E658873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6541D122-A085-A806-6FF3-4CA253C813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4D827BA5-7C7E-E66E-6BE4-264A22F67B9C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C2C5F7F1-640B-51C5-63B3-BA80AAD47034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785351B0-3392-4657-E74C-E026B86ECC15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4830" y="3565673"/>
            <a:ext cx="11748054" cy="1932990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6CA795F6-BEA6-665F-EAE3-A28A1E51B6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4D08C55F-F53D-ADA3-5A9D-C5AFF9942DF3}"/>
              </a:ext>
            </a:extLst>
          </p:cNvPr>
          <p:cNvSpPr txBox="1"/>
          <p:nvPr/>
        </p:nvSpPr>
        <p:spPr>
          <a:xfrm>
            <a:off x="-3" y="755373"/>
            <a:ext cx="1174805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000" b="1" dirty="0"/>
              <a:t>Security Control 3: Windows Defender Firewall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EBD5C9-A873-2135-62C8-F14B99CA293D}"/>
              </a:ext>
            </a:extLst>
          </p:cNvPr>
          <p:cNvSpPr txBox="1"/>
          <p:nvPr/>
        </p:nvSpPr>
        <p:spPr>
          <a:xfrm>
            <a:off x="0" y="5498663"/>
            <a:ext cx="1209338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Windows Defender Firewall was used as the system firewall to demonstrate how to block or allow traffic. A custom inbound rule was created to block ICMPv4 echo requests, which are commonly used by ping. This shows how a firewall can reduce system visibility during basic network discovery</a:t>
            </a:r>
            <a:r>
              <a:rPr lang="en-US" dirty="0"/>
              <a:t>. No specific TCP or UDP port was blocked. Nmap results identify open ports, and we recommend blocking or disabling unnecessary or insecure services.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602FC1-BA87-5DD4-409B-24228F876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116" y="4137660"/>
            <a:ext cx="11266624" cy="121814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41D921-6C07-38D8-1A60-9FB0E5FFE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911675"/>
              </p:ext>
            </p:extLst>
          </p:nvPr>
        </p:nvGraphicFramePr>
        <p:xfrm>
          <a:off x="74830" y="1115122"/>
          <a:ext cx="11938100" cy="3210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25">
                  <a:extLst>
                    <a:ext uri="{9D8B030D-6E8A-4147-A177-3AD203B41FA5}">
                      <a16:colId xmlns:a16="http://schemas.microsoft.com/office/drawing/2014/main" val="967391233"/>
                    </a:ext>
                  </a:extLst>
                </a:gridCol>
                <a:gridCol w="2984525">
                  <a:extLst>
                    <a:ext uri="{9D8B030D-6E8A-4147-A177-3AD203B41FA5}">
                      <a16:colId xmlns:a16="http://schemas.microsoft.com/office/drawing/2014/main" val="226349063"/>
                    </a:ext>
                  </a:extLst>
                </a:gridCol>
                <a:gridCol w="2984525">
                  <a:extLst>
                    <a:ext uri="{9D8B030D-6E8A-4147-A177-3AD203B41FA5}">
                      <a16:colId xmlns:a16="http://schemas.microsoft.com/office/drawing/2014/main" val="2461777670"/>
                    </a:ext>
                  </a:extLst>
                </a:gridCol>
                <a:gridCol w="2984525">
                  <a:extLst>
                    <a:ext uri="{9D8B030D-6E8A-4147-A177-3AD203B41FA5}">
                      <a16:colId xmlns:a16="http://schemas.microsoft.com/office/drawing/2014/main" val="1437997569"/>
                    </a:ext>
                  </a:extLst>
                </a:gridCol>
              </a:tblGrid>
              <a:tr h="26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Control / 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Implemented or Recommended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2325634"/>
                  </a:ext>
                </a:extLst>
              </a:tr>
              <a:tr h="619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Block ICMPv4 Echo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Prevents the system from responding to ping/network discovery attempts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35954"/>
                  </a:ext>
                </a:extLst>
              </a:tr>
              <a:tr h="438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 required trusted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Allows normal approved business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8451"/>
                  </a:ext>
                </a:extLst>
              </a:tr>
              <a:tr h="438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Block unnecessary inbound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Reduces exposure to unauthorized access attempts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056885"/>
                  </a:ext>
                </a:extLst>
              </a:tr>
              <a:tr h="619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Review open ports after Nmap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Monitor/Restrict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Implemented as scan/review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Helps identify services that should be disabled, restricted, or protected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444130"/>
                  </a:ext>
                </a:extLst>
              </a:tr>
              <a:tr h="438909">
                <a:tc>
                  <a:txBody>
                    <a:bodyPr/>
                    <a:lstStyle/>
                    <a:p>
                      <a:r>
                        <a:rPr lang="en-US" dirty="0"/>
                        <a:t>Block insecure services such as Telnet/unused 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Recommended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Reduces risk from insecure or unnecessary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18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889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749786F6-4CD8-7DF1-3D20-A3F2113C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0C0763F3-4511-BDB7-302D-BDE80913948B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C5026B9F-09CF-415D-72CC-AA6D69A6C3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51C5BFE9-F729-40B7-726E-A736AD759D00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CC97D594-51F6-EF32-6532-D5F2172B8C3A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0417F1CE-59A7-E90E-79FB-22D68DEBC886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BE244253-61A5-33F0-3A4A-9436D3F302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8EE01E16-A9D4-BA48-81FA-DB2991DDD756}"/>
              </a:ext>
            </a:extLst>
          </p:cNvPr>
          <p:cNvSpPr txBox="1"/>
          <p:nvPr/>
        </p:nvSpPr>
        <p:spPr>
          <a:xfrm>
            <a:off x="0" y="642451"/>
            <a:ext cx="11748053" cy="358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Security Control 4: Port Scanning and Hardening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800" dirty="0"/>
              <a:t>Nmap/</a:t>
            </a:r>
            <a:r>
              <a:rPr lang="en-US" sz="2800" dirty="0" err="1"/>
              <a:t>Zenmap</a:t>
            </a:r>
            <a:r>
              <a:rPr lang="en-US" sz="2800" dirty="0"/>
              <a:t> was used to simulate port scanning.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800" dirty="0"/>
              <a:t>The Packet Tracer server was not directly reachable from the Windows host, so host scans were used to demonstrate the concept.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800" dirty="0"/>
              <a:t>Open ports indicate exposed services that may become targets of attack.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800" dirty="0"/>
              <a:t>Hardening means closing, disabling, or restricting unnecessary services.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D25B45-2261-BC0F-D7C3-D6ECF9AB5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3578230"/>
            <a:ext cx="10458450" cy="289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1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A3BFDE39-589C-E9CA-7FC8-BACD37CC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173BC73A-60E4-509A-E61B-EF003A8F59D3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CB7F132A-E835-AECE-442A-29ACAB7DA4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3197F773-5ADF-F5ED-D7B6-A375170E4EB5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FA367437-14BD-92A8-3D19-D320677D4A7C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BA435A82-408F-3203-149B-5792A1DA0CD5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22084EA1-FDFA-2DBC-0F78-239D4E9749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FE721A70-761F-707C-9DCF-DD2A7433BF14}"/>
              </a:ext>
            </a:extLst>
          </p:cNvPr>
          <p:cNvSpPr txBox="1"/>
          <p:nvPr/>
        </p:nvSpPr>
        <p:spPr>
          <a:xfrm>
            <a:off x="-39756" y="671996"/>
            <a:ext cx="11748053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Nmap Findings and Hardening Actions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6BB33E-4CD0-58B9-C63F-FA671C892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922704"/>
              </p:ext>
            </p:extLst>
          </p:nvPr>
        </p:nvGraphicFramePr>
        <p:xfrm>
          <a:off x="102870" y="1408126"/>
          <a:ext cx="11884533" cy="31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1511">
                  <a:extLst>
                    <a:ext uri="{9D8B030D-6E8A-4147-A177-3AD203B41FA5}">
                      <a16:colId xmlns:a16="http://schemas.microsoft.com/office/drawing/2014/main" val="2661929598"/>
                    </a:ext>
                  </a:extLst>
                </a:gridCol>
                <a:gridCol w="3961511">
                  <a:extLst>
                    <a:ext uri="{9D8B030D-6E8A-4147-A177-3AD203B41FA5}">
                      <a16:colId xmlns:a16="http://schemas.microsoft.com/office/drawing/2014/main" val="2441861150"/>
                    </a:ext>
                  </a:extLst>
                </a:gridCol>
                <a:gridCol w="3961511">
                  <a:extLst>
                    <a:ext uri="{9D8B030D-6E8A-4147-A177-3AD203B41FA5}">
                      <a16:colId xmlns:a16="http://schemas.microsoft.com/office/drawing/2014/main" val="2816782532"/>
                    </a:ext>
                  </a:extLst>
                </a:gridCol>
              </a:tblGrid>
              <a:tr h="465702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Example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Service/Risk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Recommended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291530"/>
                  </a:ext>
                </a:extLst>
              </a:tr>
              <a:tr h="465702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21/tcp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FTP; plaintext file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Disable or replace with SFTP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87968"/>
                  </a:ext>
                </a:extLst>
              </a:tr>
              <a:tr h="465702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22/tcp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SSH remote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Allow only trusted admin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743209"/>
                  </a:ext>
                </a:extLst>
              </a:tr>
              <a:tr h="465702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23/tcp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Telnet; insecure remote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Block/disable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812873"/>
                  </a:ext>
                </a:extLst>
              </a:tr>
              <a:tr h="465702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80/443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Web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Allow only if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593825"/>
                  </a:ext>
                </a:extLst>
              </a:tr>
              <a:tr h="823934"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41414"/>
                          </a:solidFill>
                        </a:rPr>
                        <a:t>3306/</a:t>
                      </a:r>
                      <a:r>
                        <a:rPr sz="2000" dirty="0" err="1">
                          <a:solidFill>
                            <a:srgbClr val="141414"/>
                          </a:solidFill>
                        </a:rPr>
                        <a:t>tcp</a:t>
                      </a:r>
                      <a:endParaRPr sz="2000" dirty="0">
                        <a:solidFill>
                          <a:srgbClr val="14141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Database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41414"/>
                          </a:solidFill>
                        </a:rPr>
                        <a:t>Restrict to server/admin network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0344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3BB5699-B608-6F16-0561-1B3E8D2F7296}"/>
              </a:ext>
            </a:extLst>
          </p:cNvPr>
          <p:cNvSpPr txBox="1"/>
          <p:nvPr/>
        </p:nvSpPr>
        <p:spPr>
          <a:xfrm>
            <a:off x="102870" y="4756742"/>
            <a:ext cx="1044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Security lesson: every unnecessary open port increases the attack surface</a:t>
            </a:r>
          </a:p>
        </p:txBody>
      </p:sp>
    </p:spTree>
    <p:extLst>
      <p:ext uri="{BB962C8B-B14F-4D97-AF65-F5344CB8AC3E}">
        <p14:creationId xmlns:p14="http://schemas.microsoft.com/office/powerpoint/2010/main" val="502274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0C2DF447-3D4A-16F5-9C95-AE463B68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0B6AAADE-1FF8-E13F-033A-13DB9F3A8333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CBA1B5A9-91CE-6535-837A-E8663489B6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8D45526D-5B5A-AD56-09FE-CA3B86AF695E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17742D65-F5C6-D552-17B1-A5CBA2929F91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3225C7F8-45D5-0A9B-FF73-23A80462A703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-79511" y="107676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713AC5D5-0228-B426-9AE3-F7E3AFACBC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0F276C78-E8C8-82D8-1F5B-D6D103740BE9}"/>
              </a:ext>
            </a:extLst>
          </p:cNvPr>
          <p:cNvSpPr txBox="1"/>
          <p:nvPr/>
        </p:nvSpPr>
        <p:spPr>
          <a:xfrm>
            <a:off x="-39756" y="755373"/>
            <a:ext cx="11748053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Simulated Threat: Port Scanning Attack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03FCEF-734F-6451-69C3-55828CA87071}"/>
              </a:ext>
            </a:extLst>
          </p:cNvPr>
          <p:cNvSpPr txBox="1"/>
          <p:nvPr/>
        </p:nvSpPr>
        <p:spPr>
          <a:xfrm>
            <a:off x="0" y="1232642"/>
            <a:ext cx="11748052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Threat selected: port scanning attack.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An attacker scans a network to identify live hosts, open ports, and running services.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The attacker uses the information to find possible entry points.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rPr lang="en-US" sz="2400" dirty="0"/>
              <a:t>Nmap/</a:t>
            </a:r>
            <a:r>
              <a:rPr lang="en-US" sz="2400" dirty="0" err="1"/>
              <a:t>Zenmap</a:t>
            </a:r>
            <a:r>
              <a:rPr lang="en-US" sz="2400" dirty="0"/>
              <a:t> was used to demonstrate how exposed services can be discovered.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9D8B2-876C-DDEF-5A96-B03F439BB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29" y="3060833"/>
            <a:ext cx="11967659" cy="341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9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B8006720-860A-DEE8-EEDD-63786BB9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068E88AA-FB36-EF81-62CA-5C141FB2F24B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5D8A65F4-BC9D-CD15-BC1E-96231F5490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17483A73-3671-FA2D-211C-D744419AF079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FE61BFED-9AC9-02BB-58C4-88233BE5F26F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EAC2D529-5A37-D8AC-7D1B-4F15602C3F89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0F14051F-88BB-C0BB-BCEF-53A0F6FF98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034464BE-D8ED-BA2F-BEEB-05E37D50DD2D}"/>
              </a:ext>
            </a:extLst>
          </p:cNvPr>
          <p:cNvSpPr txBox="1"/>
          <p:nvPr/>
        </p:nvSpPr>
        <p:spPr>
          <a:xfrm>
            <a:off x="0" y="793984"/>
            <a:ext cx="11748053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600" b="1">
                <a:solidFill>
                  <a:srgbClr val="143255"/>
                </a:solidFill>
              </a:defRPr>
            </a:pPr>
            <a:r>
              <a:rPr lang="en-US" sz="2800" dirty="0"/>
              <a:t>Network Setup Checklist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0DFE18-EE6C-B69E-E896-593DE2D4C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533411"/>
              </p:ext>
            </p:extLst>
          </p:nvPr>
        </p:nvGraphicFramePr>
        <p:xfrm>
          <a:off x="182880" y="1382804"/>
          <a:ext cx="11910508" cy="4423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5254">
                  <a:extLst>
                    <a:ext uri="{9D8B030D-6E8A-4147-A177-3AD203B41FA5}">
                      <a16:colId xmlns:a16="http://schemas.microsoft.com/office/drawing/2014/main" val="1025121579"/>
                    </a:ext>
                  </a:extLst>
                </a:gridCol>
                <a:gridCol w="5955254">
                  <a:extLst>
                    <a:ext uri="{9D8B030D-6E8A-4147-A177-3AD203B41FA5}">
                      <a16:colId xmlns:a16="http://schemas.microsoft.com/office/drawing/2014/main" val="3392423198"/>
                    </a:ext>
                  </a:extLst>
                </a:gridCol>
              </a:tblGrid>
              <a:tr h="46376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Checklist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83955"/>
                  </a:ext>
                </a:extLst>
              </a:tr>
              <a:tr h="82051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Topology diagram includes router, firewall, switch, server, PCs, and guest 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1835"/>
                  </a:ext>
                </a:extLst>
              </a:tr>
              <a:tr h="82051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Devices are grouped into Office, Server, and Guest 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27203"/>
                  </a:ext>
                </a:extLst>
              </a:tr>
              <a:tr h="463768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Router access passwords configured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99248"/>
                  </a:ext>
                </a:extLst>
              </a:tr>
              <a:tr h="463768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Firewall/access rules documented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196623"/>
                  </a:ext>
                </a:extLst>
              </a:tr>
              <a:tr h="463768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Nmap/Zenmap scan performed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115021"/>
                  </a:ext>
                </a:extLst>
              </a:tr>
              <a:tr h="463768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Ping/connectivity testing performed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087152"/>
                  </a:ext>
                </a:extLst>
              </a:tr>
              <a:tr h="463768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41414"/>
                          </a:solidFill>
                        </a:rPr>
                        <a:t>Screenshots collected for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41414"/>
                          </a:solidFill>
                        </a:rPr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29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464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132190" y="694696"/>
            <a:ext cx="11748053" cy="108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  <a:buSzPts val="2800"/>
            </a:pPr>
            <a:r>
              <a:rPr lang="en-US" sz="2800" b="1" dirty="0"/>
              <a:t>Challenges and Lessons Learned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04699-B587-A6DF-F090-C2AEE47BC75A}"/>
              </a:ext>
            </a:extLst>
          </p:cNvPr>
          <p:cNvSpPr txBox="1"/>
          <p:nvPr/>
        </p:nvSpPr>
        <p:spPr>
          <a:xfrm>
            <a:off x="132190" y="1314379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3255"/>
                </a:solidFill>
              </a:defRPr>
            </a:pPr>
            <a:r>
              <a:rPr lang="en-US" sz="2400" dirty="0"/>
              <a:t>Challenges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D29A2-918B-F51A-4894-8818A3CC5A69}"/>
              </a:ext>
            </a:extLst>
          </p:cNvPr>
          <p:cNvSpPr txBox="1"/>
          <p:nvPr/>
        </p:nvSpPr>
        <p:spPr>
          <a:xfrm>
            <a:off x="25617" y="1769701"/>
            <a:ext cx="1196119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Packet Tracer devices are simulated and may not be directly reachable from the host machine using Nmap.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Different subnets require routing/firewall configuration before cross-zone traffic can pass.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Security controls should be planned before deployment, not added afterward.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FE60B-ECD5-623B-219B-F638A24F0A5A}"/>
              </a:ext>
            </a:extLst>
          </p:cNvPr>
          <p:cNvSpPr txBox="1"/>
          <p:nvPr/>
        </p:nvSpPr>
        <p:spPr>
          <a:xfrm>
            <a:off x="132190" y="399697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3255"/>
                </a:solidFill>
              </a:defRPr>
            </a:pPr>
            <a:r>
              <a:rPr lang="en-US" sz="2400" dirty="0"/>
              <a:t>Lessons learned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F5536-BCAE-C617-CF35-195672E5AA51}"/>
              </a:ext>
            </a:extLst>
          </p:cNvPr>
          <p:cNvSpPr txBox="1"/>
          <p:nvPr/>
        </p:nvSpPr>
        <p:spPr>
          <a:xfrm>
            <a:off x="52925" y="4643374"/>
            <a:ext cx="11961198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Segmentation reduces lateral movement.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Password protection secures network administration.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Firewall rules and hardening reduce the attack surface.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Monitoring tools help identify risks and traffic behavior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09330" y="1232643"/>
            <a:ext cx="11748053" cy="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EA68F1-159D-E937-FE05-D5C453C9149B}"/>
              </a:ext>
            </a:extLst>
          </p:cNvPr>
          <p:cNvSpPr txBox="1"/>
          <p:nvPr/>
        </p:nvSpPr>
        <p:spPr>
          <a:xfrm>
            <a:off x="109330" y="2020922"/>
            <a:ext cx="11984058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rPr lang="en-US" sz="2400" dirty="0"/>
              <a:t>This project demonstrated how to design and secure a small office network.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rPr lang="en-US" sz="2400" dirty="0"/>
              <a:t>The topology included a router, firewall, core switch, office PCs, a server, and a guest laptop.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rPr lang="en-US" sz="2400" dirty="0"/>
              <a:t>Security controls included password protection, segmentation, firewall rules, port scanning/hardening, and traffic analysis.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rPr lang="en-US" sz="2400" dirty="0"/>
              <a:t>The simulated port scanning threat showed why access controls and hardening are important for real 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109330" y="1232643"/>
            <a:ext cx="11748053" cy="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DFCBE-6023-EF46-057E-EA52EF71FEF5}"/>
              </a:ext>
            </a:extLst>
          </p:cNvPr>
          <p:cNvSpPr txBox="1"/>
          <p:nvPr/>
        </p:nvSpPr>
        <p:spPr>
          <a:xfrm>
            <a:off x="0" y="1951993"/>
            <a:ext cx="117480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Cisco Packet Tracer documentation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Nmap/</a:t>
            </a:r>
            <a:r>
              <a:rPr lang="en-US" sz="2400" dirty="0" err="1"/>
              <a:t>Zenmap</a:t>
            </a:r>
            <a:r>
              <a:rPr lang="en-US" sz="2400" dirty="0"/>
              <a:t> documentation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Wireshark User Guide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NIST Cybersecurity Framework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rPr lang="en-US" sz="2400" dirty="0"/>
              <a:t>CISA guidance on network security and secure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-1409815" y="2160121"/>
            <a:ext cx="11477177" cy="1695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9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1274</Words>
  <Application>Microsoft Office PowerPoint</Application>
  <PresentationFormat>Widescreen</PresentationFormat>
  <Paragraphs>214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Olaniyi Eluwole</dc:creator>
  <cp:lastModifiedBy>chioma igbo</cp:lastModifiedBy>
  <cp:revision>5</cp:revision>
  <dcterms:created xsi:type="dcterms:W3CDTF">2024-10-09T19:59:03Z</dcterms:created>
  <dcterms:modified xsi:type="dcterms:W3CDTF">2026-07-17T21:58:03Z</dcterms:modified>
</cp:coreProperties>
</file>